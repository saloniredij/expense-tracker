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0" r:id="rId11"/>
    <p:sldId id="269" r:id="rId12"/>
    <p:sldId id="270" r:id="rId13"/>
    <p:sldId id="272" r:id="rId14"/>
    <p:sldId id="271" r:id="rId15"/>
    <p:sldId id="27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719"/>
  </p:normalViewPr>
  <p:slideViewPr>
    <p:cSldViewPr snapToGrid="0">
      <p:cViewPr varScale="1">
        <p:scale>
          <a:sx n="122" d="100"/>
          <a:sy n="122" d="100"/>
        </p:scale>
        <p:origin x="22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12/10/25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loniredij/expense-tracker" TargetMode="External"/><Relationship Id="rId2" Type="http://schemas.openxmlformats.org/officeDocument/2006/relationships/hyperlink" Target="https://expense-tracker-3pzv.onrender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81EF1-795A-243A-67E3-8089B84B0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8082" y="745016"/>
            <a:ext cx="8637073" cy="2541431"/>
          </a:xfrm>
        </p:spPr>
        <p:txBody>
          <a:bodyPr>
            <a:normAutofit/>
          </a:bodyPr>
          <a:lstStyle/>
          <a:p>
            <a:pPr algn="ctr">
              <a:lnSpc>
                <a:spcPct val="200000"/>
              </a:lnSpc>
            </a:pPr>
            <a:r>
              <a:rPr lang="en-US" sz="4800" dirty="0"/>
              <a:t>Saloni Redij</a:t>
            </a:r>
            <a:br>
              <a:rPr lang="en-US" sz="4800" dirty="0"/>
            </a:br>
            <a:r>
              <a:rPr lang="en-US" sz="3200" dirty="0">
                <a:latin typeface="+mn-lt"/>
              </a:rPr>
              <a:t>Capgemini Programming Assessment</a:t>
            </a:r>
            <a:endParaRPr lang="en-US" sz="4800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BCBC3C-B539-8B17-5359-94A2BC4C37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916226"/>
            <a:ext cx="8637072" cy="977621"/>
          </a:xfrm>
        </p:spPr>
        <p:txBody>
          <a:bodyPr/>
          <a:lstStyle/>
          <a:p>
            <a:pPr algn="ctr"/>
            <a:r>
              <a:rPr lang="en-US" sz="2400" dirty="0"/>
              <a:t>Title : Simple Expense Tracker Application</a:t>
            </a:r>
            <a:br>
              <a:rPr lang="en-US" dirty="0"/>
            </a:br>
            <a:r>
              <a:rPr lang="en-US" sz="1600" dirty="0"/>
              <a:t>Java17 (Spring Boot) + HTML &amp; Bootstrap &amp; JS</a:t>
            </a:r>
          </a:p>
          <a:p>
            <a:pPr algn="ctr"/>
            <a:endParaRPr lang="en-US" sz="1600" dirty="0"/>
          </a:p>
          <a:p>
            <a:pPr algn="ctr"/>
            <a:endParaRPr lang="en-US" sz="1400" dirty="0"/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025516A-6F53-556A-E988-6DF24BD61BCD}"/>
              </a:ext>
            </a:extLst>
          </p:cNvPr>
          <p:cNvSpPr txBox="1">
            <a:spLocks/>
          </p:cNvSpPr>
          <p:nvPr/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91440" rIns="91440" bIns="9144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br>
              <a:rPr lang="en-US"/>
            </a:b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F03B567-B00E-3DC8-9FF5-B778A4861A74}"/>
              </a:ext>
            </a:extLst>
          </p:cNvPr>
          <p:cNvSpPr txBox="1">
            <a:spLocks/>
          </p:cNvSpPr>
          <p:nvPr/>
        </p:nvSpPr>
        <p:spPr>
          <a:xfrm>
            <a:off x="141889" y="5607313"/>
            <a:ext cx="11908221" cy="977621"/>
          </a:xfrm>
          <a:prstGeom prst="rect">
            <a:avLst/>
          </a:prstGeom>
        </p:spPr>
        <p:txBody>
          <a:bodyPr vert="horz" lIns="91440" tIns="91440" rIns="91440" bIns="9144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/>
              <a:t>Live application URL : </a:t>
            </a:r>
            <a:r>
              <a:rPr lang="en-US" sz="1400" dirty="0">
                <a:solidFill>
                  <a:schemeClr val="accent5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expense-tracker-website</a:t>
            </a:r>
            <a:r>
              <a:rPr lang="en-US" sz="1400" dirty="0"/>
              <a:t> | </a:t>
            </a:r>
            <a:r>
              <a:rPr lang="en-US" sz="1400" dirty="0" err="1"/>
              <a:t>GitHUB</a:t>
            </a:r>
            <a:r>
              <a:rPr lang="en-US" sz="1400" dirty="0"/>
              <a:t> Repo </a:t>
            </a:r>
            <a:r>
              <a:rPr lang="en-US" sz="1400" dirty="0" err="1"/>
              <a:t>url</a:t>
            </a:r>
            <a:r>
              <a:rPr lang="en-US" sz="1400" dirty="0"/>
              <a:t>: </a:t>
            </a:r>
            <a:r>
              <a:rPr lang="en-US" sz="1400" dirty="0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github.com/saloniredij/expense-tracker</a:t>
            </a:r>
            <a:endParaRPr lang="en-US" sz="1400" dirty="0">
              <a:solidFill>
                <a:schemeClr val="accent5"/>
              </a:solidFill>
            </a:endParaRPr>
          </a:p>
          <a:p>
            <a:pPr algn="ctr"/>
            <a:endParaRPr lang="en-US" sz="1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290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5582AEA-D228-7A09-E788-5B3152135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 &amp;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8BAB2-AB2D-A14E-F09B-3400EB216AF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Problem</a:t>
            </a:r>
          </a:p>
          <a:p>
            <a:pPr marL="0" indent="0">
              <a:buNone/>
            </a:pPr>
            <a:r>
              <a:rPr lang="en-US" dirty="0"/>
              <a:t>Build a simple application that -</a:t>
            </a:r>
          </a:p>
          <a:p>
            <a:r>
              <a:rPr lang="en-US" dirty="0"/>
              <a:t>Allows users to record expenses (category, amount, date)</a:t>
            </a:r>
          </a:p>
          <a:p>
            <a:r>
              <a:rPr lang="en-US" dirty="0"/>
              <a:t>Provides useful insights into spending behavior</a:t>
            </a:r>
          </a:p>
          <a:p>
            <a:r>
              <a:rPr lang="en-US" dirty="0"/>
              <a:t>Uses in-memory or file-based storage (no database)</a:t>
            </a:r>
          </a:p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CBCDF82-1C53-A9A6-6153-CB6E87C7585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Goals</a:t>
            </a:r>
          </a:p>
          <a:p>
            <a:r>
              <a:rPr lang="en-US" dirty="0"/>
              <a:t>Clean, maintainable backend design</a:t>
            </a:r>
          </a:p>
          <a:p>
            <a:r>
              <a:rPr lang="en-US" dirty="0"/>
              <a:t>Persistent storage without a database</a:t>
            </a:r>
          </a:p>
          <a:p>
            <a:r>
              <a:rPr lang="en-US" dirty="0"/>
              <a:t>Simple and intuitive user interface</a:t>
            </a:r>
          </a:p>
          <a:p>
            <a:r>
              <a:rPr lang="en-US" dirty="0"/>
              <a:t>Easy to run and evaluate locally or in deployment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664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BA99D6C-6BFA-838A-B1E6-716F9B412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High-Level Approach &amp; Architecture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9C1817-0356-798D-03EE-69DBD2630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346431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b="1" dirty="0"/>
              <a:t>Client:</a:t>
            </a:r>
            <a:endParaRPr lang="en-US" dirty="0"/>
          </a:p>
          <a:p>
            <a:pPr lvl="1"/>
            <a:r>
              <a:rPr lang="en-US" dirty="0"/>
              <a:t>HTML + Bootstrap pages</a:t>
            </a:r>
          </a:p>
          <a:p>
            <a:pPr lvl="1"/>
            <a:r>
              <a:rPr lang="en-US" dirty="0"/>
              <a:t>Charts rendered via JS (</a:t>
            </a:r>
            <a:r>
              <a:rPr lang="en-US" dirty="0" err="1"/>
              <a:t>Chart.js</a:t>
            </a:r>
            <a:r>
              <a:rPr lang="en-US" dirty="0"/>
              <a:t> bundled via Node/</a:t>
            </a:r>
            <a:r>
              <a:rPr lang="en-US" dirty="0" err="1"/>
              <a:t>npm</a:t>
            </a:r>
            <a:r>
              <a:rPr lang="en-US" dirty="0"/>
              <a:t>)</a:t>
            </a:r>
          </a:p>
          <a:p>
            <a:pPr>
              <a:buFont typeface="Wingdings" pitchFamily="2" charset="2"/>
              <a:buChar char="Ø"/>
            </a:pPr>
            <a:r>
              <a:rPr lang="en-US" b="1" dirty="0"/>
              <a:t>Backend (Spring Boot):</a:t>
            </a:r>
            <a:endParaRPr lang="en-US" dirty="0"/>
          </a:p>
          <a:p>
            <a:pPr lvl="1"/>
            <a:r>
              <a:rPr lang="en-US" dirty="0"/>
              <a:t>REST controller exposes endpoints for CRUD + analytics</a:t>
            </a:r>
          </a:p>
          <a:p>
            <a:pPr lvl="1"/>
            <a:r>
              <a:rPr lang="en-US" dirty="0"/>
              <a:t>Service layer calculates totals, trends, highest/lowest categories				</a:t>
            </a:r>
          </a:p>
          <a:p>
            <a:pPr>
              <a:buFont typeface="Wingdings" pitchFamily="2" charset="2"/>
              <a:buChar char="Ø"/>
            </a:pPr>
            <a:r>
              <a:rPr lang="en-US" b="1" dirty="0"/>
              <a:t>Persistence:</a:t>
            </a:r>
            <a:endParaRPr lang="en-US" dirty="0"/>
          </a:p>
          <a:p>
            <a:pPr lvl="1"/>
            <a:r>
              <a:rPr lang="en-US" dirty="0" err="1"/>
              <a:t>FileExpenseRepository</a:t>
            </a:r>
            <a:r>
              <a:rPr lang="en-US" dirty="0"/>
              <a:t> reads/writes </a:t>
            </a:r>
            <a:r>
              <a:rPr lang="en-US" dirty="0" err="1"/>
              <a:t>expenses.json</a:t>
            </a:r>
            <a:endParaRPr lang="en-US" dirty="0"/>
          </a:p>
          <a:p>
            <a:pPr lvl="1"/>
            <a:r>
              <a:rPr lang="en-US" dirty="0"/>
              <a:t>Also responsible for loading seed data if file missing</a:t>
            </a:r>
          </a:p>
          <a:p>
            <a:pPr>
              <a:buFont typeface="Wingdings" pitchFamily="2" charset="2"/>
              <a:buChar char="Ø"/>
            </a:pPr>
            <a:r>
              <a:rPr lang="en-US" b="1" dirty="0"/>
              <a:t>Export:</a:t>
            </a:r>
            <a:endParaRPr lang="en-US" dirty="0"/>
          </a:p>
          <a:p>
            <a:pPr lvl="1"/>
            <a:r>
              <a:rPr lang="en-US" dirty="0"/>
              <a:t>Apache POI used to generate .xlsx file on demand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293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A2563-C0D0-AC85-7358-1D4B16D70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98EEFEB-C1B2-0AB5-70F3-742B3829C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Design Decisions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570A8F-213A-D515-4D91-03D751128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Why File-Based Storage?</a:t>
            </a:r>
          </a:p>
          <a:p>
            <a:r>
              <a:rPr lang="en-US" dirty="0"/>
              <a:t>Meets assessment requirement (no DB needed)</a:t>
            </a:r>
          </a:p>
          <a:p>
            <a:r>
              <a:rPr lang="en-US" dirty="0"/>
              <a:t>JSON is human-readable and easy to inspect</a:t>
            </a:r>
          </a:p>
          <a:p>
            <a:r>
              <a:rPr lang="en-US" dirty="0"/>
              <a:t>Persists data across restarts</a:t>
            </a:r>
          </a:p>
          <a:p>
            <a:r>
              <a:rPr lang="en-US" dirty="0"/>
              <a:t>Easily replaceable with DB in future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321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56012FD-74A8-4C91-B318-435CF2B71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1C2A4B30-77D7-4FFB-8B53-A88BD68CA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0BD7E0-6568-DE17-FA3B-1A049CAED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19"/>
            <a:ext cx="4325112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/>
              <a:t>Key Screens &amp; Features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73AAE2E-5D6B-4952-A4BB-546C49F8D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432511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01E4D783-AD45-49E7-B6C7-BBACB8290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87C74-A956-A100-8BE0-3F73569588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51579" y="2015732"/>
            <a:ext cx="4325113" cy="40741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1) </a:t>
            </a:r>
            <a:r>
              <a:rPr lang="en-US" sz="2000" dirty="0"/>
              <a:t>Add expense: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Category, amount, date, optional note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Basic validation (required fields, positive amount, past and current dates only)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9" name="Content Placeholder 8" descr="A screenshot of a phone&#10;&#10;AI-generated content may be incorrect.">
            <a:extLst>
              <a:ext uri="{FF2B5EF4-FFF2-40B4-BE49-F238E27FC236}">
                <a16:creationId xmlns:a16="http://schemas.microsoft.com/office/drawing/2014/main" id="{C7ABCDA1-5D66-9BBA-9CD1-8C7EBC71CB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2158" b="-4"/>
          <a:stretch>
            <a:fillRect/>
          </a:stretch>
        </p:blipFill>
        <p:spPr>
          <a:xfrm>
            <a:off x="6822978" y="804519"/>
            <a:ext cx="3826629" cy="528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112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F3E10D-20CD-E0E9-9229-D324DD2D7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56012FD-74A8-4C91-B318-435CF2B71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87C1006-581D-9563-4A3A-C13D16C52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4176511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/>
              <a:t>Key Screens &amp; Features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2E4E1C-E3A2-2FA9-9987-78832A5018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51580" y="2015732"/>
            <a:ext cx="4476253" cy="34506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/>
              <a:t>2) Category, amount, date, optional note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Total Expense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Highest Spend Category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Lowest Spend Category</a:t>
            </a:r>
          </a:p>
          <a:p>
            <a:endParaRPr lang="en-US" dirty="0"/>
          </a:p>
          <a:p>
            <a:r>
              <a:rPr lang="en-US" sz="1800" dirty="0"/>
              <a:t>3) Expense trend (recent per-day totals)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Content Placeholder 6" descr="A screenshot of a phone&#10;&#10;AI-generated content may be incorrect.">
            <a:extLst>
              <a:ext uri="{FF2B5EF4-FFF2-40B4-BE49-F238E27FC236}">
                <a16:creationId xmlns:a16="http://schemas.microsoft.com/office/drawing/2014/main" id="{A565B916-1C10-ED63-2A83-6FF8961228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972495" y="805583"/>
            <a:ext cx="3204273" cy="466076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015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07828E-B15C-B421-6218-649F227E1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EEA869E1-F851-4A52-92F5-77E592B76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B083AD55-8296-44BD-8E14-DD2DDBC35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BF46B26-15FC-4C5A-94FA-AE9ED64B5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ADF1045-FC61-45F9-B214-2286C9675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42C14A9-3617-46DD-9FC4-ED828A7D3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9AB0109-1C89-41F0-9EDF-3DE017BE3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7" y="1847088"/>
            <a:ext cx="554803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DD8DA4E-80AD-4A89-050C-FE13325DE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5550357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/>
              <a:t>Analytics &amp; Charts</a:t>
            </a:r>
            <a:endParaRPr lang="en-US" sz="32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9E5CB6C-D5A1-44AB-BAD0-E76C67ED2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9A8DF4-5B80-BD57-952C-BB76C5CC6C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51579" y="2015732"/>
            <a:ext cx="5550357" cy="34506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b="1" dirty="0"/>
              <a:t>Total by Category (pie chart)</a:t>
            </a:r>
            <a:endParaRPr lang="en-US" dirty="0"/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dirty="0"/>
              <a:t>Visual breakdown of categories (Food, Travel, Utilities, etc.)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b="1" dirty="0"/>
              <a:t>Daily Spend (line chart)</a:t>
            </a:r>
            <a:endParaRPr lang="en-US" dirty="0"/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dirty="0"/>
              <a:t>Plots spend per day over last N days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dirty="0"/>
              <a:t>Charts implemented using </a:t>
            </a:r>
            <a:r>
              <a:rPr lang="en-US" dirty="0" err="1"/>
              <a:t>Chart.js</a:t>
            </a:r>
            <a:r>
              <a:rPr lang="en-US" dirty="0"/>
              <a:t> loaded via Node 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dirty="0"/>
              <a:t>Backend supplies pre-aggregated data via JSON endpoints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8" name="Content Placeholder 7" descr="A pie chart with different colored circles&#10;&#10;AI-generated content may be incorrect.">
            <a:extLst>
              <a:ext uri="{FF2B5EF4-FFF2-40B4-BE49-F238E27FC236}">
                <a16:creationId xmlns:a16="http://schemas.microsoft.com/office/drawing/2014/main" id="{3D4D6886-D19A-E1EF-E93F-7C25B6856C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731078" y="70609"/>
            <a:ext cx="3058137" cy="2981684"/>
          </a:xfrm>
          <a:prstGeom prst="rect">
            <a:avLst/>
          </a:prstGeom>
        </p:spPr>
      </p:pic>
      <p:pic>
        <p:nvPicPr>
          <p:cNvPr id="10" name="Picture 9" descr="A graph with blue line&#10;&#10;AI-generated content may be incorrect.">
            <a:extLst>
              <a:ext uri="{FF2B5EF4-FFF2-40B4-BE49-F238E27FC236}">
                <a16:creationId xmlns:a16="http://schemas.microsoft.com/office/drawing/2014/main" id="{EA0BE5C9-D8B5-6D41-EC65-969E562637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1078" y="3138486"/>
            <a:ext cx="3559868" cy="249190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5A16967-5C32-4A48-9F02-4F0228AC8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42D078B-EF20-4DB1-AA1B-87F212C56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944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D4B0F1-5257-F79F-721C-E30482A7C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56012FD-74A8-4C91-B318-435CF2B71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5757B29-C656-84FF-62AA-E4D4CD782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/>
              <a:t>Expenses Table, Filters &amp; Actions</a:t>
            </a:r>
          </a:p>
        </p:txBody>
      </p:sp>
      <p:pic>
        <p:nvPicPr>
          <p:cNvPr id="11" name="Content Placeholder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C3E9819-386B-2821-68A5-904D979A11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2510" y="2064020"/>
            <a:ext cx="6107279" cy="360526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DEBEDC-7C73-6303-DBD5-209F8F481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92299" y="2015734"/>
            <a:ext cx="4907191" cy="36535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14300" indent="-342900">
              <a:lnSpc>
                <a:spcPct val="110000"/>
              </a:lnSpc>
              <a:buFont typeface="Wingdings" pitchFamily="2" charset="2"/>
              <a:buChar char="Ø"/>
            </a:pPr>
            <a:r>
              <a:rPr lang="en-US" sz="1900" dirty="0"/>
              <a:t>Filtering:</a:t>
            </a:r>
          </a:p>
          <a:p>
            <a:pPr lvl="1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By </a:t>
            </a:r>
            <a:r>
              <a:rPr lang="en-US" sz="1500" b="1" dirty="0"/>
              <a:t>category</a:t>
            </a:r>
            <a:r>
              <a:rPr lang="en-US" sz="1500" dirty="0"/>
              <a:t>, </a:t>
            </a:r>
            <a:r>
              <a:rPr lang="en-US" sz="1500" b="1" dirty="0"/>
              <a:t>date order</a:t>
            </a:r>
            <a:r>
              <a:rPr lang="en-US" sz="1500" dirty="0"/>
              <a:t>, </a:t>
            </a:r>
            <a:r>
              <a:rPr lang="en-US" sz="1500" b="1" dirty="0"/>
              <a:t>amount range</a:t>
            </a:r>
            <a:r>
              <a:rPr lang="en-US" sz="1500" dirty="0"/>
              <a:t>, and </a:t>
            </a:r>
            <a:r>
              <a:rPr lang="en-US" sz="1500" b="1" dirty="0"/>
              <a:t>search text</a:t>
            </a:r>
            <a:endParaRPr lang="en-US" sz="1500" dirty="0"/>
          </a:p>
          <a:p>
            <a:pPr marL="114300" indent="-342900">
              <a:lnSpc>
                <a:spcPct val="110000"/>
              </a:lnSpc>
              <a:buFont typeface="Wingdings" pitchFamily="2" charset="2"/>
              <a:buChar char="Ø"/>
            </a:pPr>
            <a:r>
              <a:rPr lang="en-US" sz="1900" dirty="0"/>
              <a:t>Table:</a:t>
            </a:r>
          </a:p>
          <a:p>
            <a:pPr lvl="1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Paginated list of expenses (index, date, category, amount, note)</a:t>
            </a:r>
          </a:p>
          <a:p>
            <a:pPr marL="114300" indent="-342900">
              <a:lnSpc>
                <a:spcPct val="110000"/>
              </a:lnSpc>
              <a:buFont typeface="Wingdings" pitchFamily="2" charset="2"/>
              <a:buChar char="Ø"/>
            </a:pPr>
            <a:r>
              <a:rPr lang="en-US" sz="1900" dirty="0"/>
              <a:t>Actions:</a:t>
            </a:r>
          </a:p>
          <a:p>
            <a:pPr lvl="1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b="1" dirty="0"/>
              <a:t>Edit</a:t>
            </a:r>
            <a:r>
              <a:rPr lang="en-US" sz="1500" dirty="0"/>
              <a:t> existing expense</a:t>
            </a:r>
          </a:p>
          <a:p>
            <a:pPr lvl="1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b="1" dirty="0"/>
              <a:t>Delete</a:t>
            </a:r>
            <a:r>
              <a:rPr lang="en-US" sz="1500" dirty="0"/>
              <a:t> expense</a:t>
            </a:r>
          </a:p>
          <a:p>
            <a:pPr marL="114300" indent="-342900">
              <a:lnSpc>
                <a:spcPct val="110000"/>
              </a:lnSpc>
              <a:buFont typeface="Wingdings" pitchFamily="2" charset="2"/>
              <a:buChar char="Ø"/>
            </a:pPr>
            <a:r>
              <a:rPr lang="en-US" sz="1900" dirty="0"/>
              <a:t>“Export Excel” button on the same screen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98628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E92893-2E31-DD83-7951-440188E67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EEA869E1-F851-4A52-92F5-77E592B76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083AD55-8296-44BD-8E14-DD2DDBC35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BF46B26-15FC-4C5A-94FA-AE9ED64B5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ADF1045-FC61-45F9-B214-2286C9675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742C14A9-3617-46DD-9FC4-ED828A7D3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9AB0109-1C89-41F0-9EDF-3DE017BE3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7" y="1847088"/>
            <a:ext cx="554803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FD972AD-CB71-EB8D-52C2-BF80CF4B3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5882168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/>
              <a:t>Excel Export (Apache POI)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9E5CB6C-D5A1-44AB-BAD0-E76C67ED2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18CE52-1EA9-79F6-6A64-55EDE122A2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51579" y="2015732"/>
            <a:ext cx="5550357" cy="34506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1800" dirty="0"/>
              <a:t>Backend endpoint /export/excel</a:t>
            </a:r>
          </a:p>
          <a:p>
            <a:pPr marL="57150" indent="-285750">
              <a:buFont typeface="Wingdings" pitchFamily="2" charset="2"/>
              <a:buChar char="Ø"/>
            </a:pPr>
            <a:r>
              <a:rPr lang="en-US" sz="1800" dirty="0"/>
              <a:t>Implementation: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sz="1600" dirty="0"/>
              <a:t>Uses </a:t>
            </a:r>
            <a:r>
              <a:rPr lang="en-US" sz="1600" b="1" dirty="0"/>
              <a:t>Apache POI</a:t>
            </a:r>
            <a:r>
              <a:rPr lang="en-US" sz="1600" dirty="0"/>
              <a:t> to create an .xlsx workbook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sz="1600" dirty="0"/>
              <a:t>Writes header row + all expenses from repository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sz="1600" dirty="0"/>
              <a:t>Sets correct data types (date, numeric amount, text)</a:t>
            </a:r>
          </a:p>
          <a:p>
            <a:pPr marL="57150" indent="-285750">
              <a:buFont typeface="Wingdings" pitchFamily="2" charset="2"/>
              <a:buChar char="Ø"/>
            </a:pPr>
            <a:r>
              <a:rPr lang="en-US" sz="1800" dirty="0"/>
              <a:t>Frontend: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sz="1600" dirty="0"/>
              <a:t>“Export Excel” button triggers file download</a:t>
            </a:r>
          </a:p>
        </p:txBody>
      </p:sp>
      <p:pic>
        <p:nvPicPr>
          <p:cNvPr id="7" name="Content Placeholder 6" descr="A screenshot of a spreadsheet&#10;&#10;AI-generated content may be incorrect.">
            <a:extLst>
              <a:ext uri="{FF2B5EF4-FFF2-40B4-BE49-F238E27FC236}">
                <a16:creationId xmlns:a16="http://schemas.microsoft.com/office/drawing/2014/main" id="{8907A272-4877-D9AC-C6C9-3E3A4D7C22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333747" y="2723037"/>
            <a:ext cx="4483115" cy="3059725"/>
          </a:xfrm>
          <a:prstGeom prst="rect">
            <a:avLst/>
          </a:prstGeom>
        </p:spPr>
      </p:pic>
      <p:pic>
        <p:nvPicPr>
          <p:cNvPr id="11" name="Picture 10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7CB84BD0-F066-9D08-46B0-252CE93CCC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2761" y="729586"/>
            <a:ext cx="3208111" cy="1828622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5A16967-5C32-4A48-9F02-4F0228AC8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42D078B-EF20-4DB1-AA1B-87F212C56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3650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1CE580D1-F917-4567-AFB4-99AA9B52A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1F5620B8-A2D8-4568-B566-F0453A0D9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C7D2BA4-4B7A-4596-8BCC-5CF715423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9D4B225-18E9-4C5B-94D8-2ABE6D16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021A4066-B261-49FE-952E-A0FE3EE75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81B4579-E2EA-4BD7-94FF-0A0BEE135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353088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DB1B35D-D972-5519-FB9D-A2FC1B2078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1580" y="804520"/>
            <a:ext cx="3530157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/>
              <a:t>Key Files &amp; Folders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1958111-BC13-4D45-AB27-0C2C83F9BA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E35FDD-D30D-B788-F466-5DE2FE996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9393" y="1853756"/>
            <a:ext cx="4578711" cy="4357858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700" dirty="0"/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+mj-lt"/>
              </a:rPr>
              <a:t>src</a:t>
            </a:r>
            <a:r>
              <a:rPr lang="en-US" sz="1600" b="1" dirty="0">
                <a:latin typeface="+mj-lt"/>
              </a:rPr>
              <a:t>/main/java/com/</a:t>
            </a:r>
            <a:r>
              <a:rPr lang="en-US" sz="1600" b="1" dirty="0" err="1">
                <a:latin typeface="+mj-lt"/>
              </a:rPr>
              <a:t>saloni</a:t>
            </a:r>
            <a:r>
              <a:rPr lang="en-US" sz="1600" b="1" dirty="0">
                <a:latin typeface="+mj-lt"/>
              </a:rPr>
              <a:t>/</a:t>
            </a:r>
            <a:r>
              <a:rPr lang="en-US" sz="1600" b="1" dirty="0" err="1">
                <a:latin typeface="+mj-lt"/>
              </a:rPr>
              <a:t>expensetracker</a:t>
            </a:r>
            <a:r>
              <a:rPr lang="en-US" sz="1600" b="1" dirty="0">
                <a:latin typeface="+mj-lt"/>
              </a:rPr>
              <a:t>/</a:t>
            </a:r>
          </a:p>
          <a:p>
            <a:pPr lvl="1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latin typeface="+mj-lt"/>
              </a:rPr>
              <a:t>ExpenseTrackerApplication.java</a:t>
            </a:r>
            <a:r>
              <a:rPr lang="en-US" sz="1600" dirty="0">
                <a:latin typeface="+mj-lt"/>
              </a:rPr>
              <a:t> – Spring Boot entry point</a:t>
            </a:r>
          </a:p>
          <a:p>
            <a:pPr lvl="1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model/</a:t>
            </a:r>
            <a:r>
              <a:rPr lang="en-US" sz="1600" dirty="0" err="1">
                <a:latin typeface="+mj-lt"/>
              </a:rPr>
              <a:t>Expense.java</a:t>
            </a:r>
            <a:r>
              <a:rPr lang="en-US" sz="1600" dirty="0">
                <a:latin typeface="+mj-lt"/>
              </a:rPr>
              <a:t> – domain model</a:t>
            </a:r>
          </a:p>
          <a:p>
            <a:pPr lvl="1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repository/</a:t>
            </a:r>
            <a:r>
              <a:rPr lang="en-US" sz="1600" dirty="0" err="1">
                <a:latin typeface="+mj-lt"/>
              </a:rPr>
              <a:t>FileExpenseRepository.java</a:t>
            </a:r>
            <a:r>
              <a:rPr lang="en-US" sz="1600" dirty="0">
                <a:latin typeface="+mj-lt"/>
              </a:rPr>
              <a:t> – JSON file persistence</a:t>
            </a:r>
          </a:p>
          <a:p>
            <a:pPr lvl="1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repository/</a:t>
            </a:r>
            <a:r>
              <a:rPr lang="en-US" sz="1600" dirty="0" err="1"/>
              <a:t>ExpenseRepository.java</a:t>
            </a:r>
            <a:r>
              <a:rPr lang="en-US" sz="1600" dirty="0"/>
              <a:t> – Definition</a:t>
            </a:r>
            <a:endParaRPr lang="en-US" sz="1600" dirty="0">
              <a:latin typeface="+mj-lt"/>
            </a:endParaRPr>
          </a:p>
          <a:p>
            <a:pPr lvl="1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service/</a:t>
            </a:r>
            <a:r>
              <a:rPr lang="en-US" sz="1600" dirty="0" err="1">
                <a:latin typeface="+mj-lt"/>
              </a:rPr>
              <a:t>ExpenseService.java</a:t>
            </a:r>
            <a:r>
              <a:rPr lang="en-US" sz="1600" dirty="0">
                <a:latin typeface="+mj-lt"/>
              </a:rPr>
              <a:t> – business logic &amp; aggregations</a:t>
            </a:r>
          </a:p>
          <a:p>
            <a:pPr lvl="1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controller/</a:t>
            </a:r>
            <a:r>
              <a:rPr lang="en-US" sz="1600" dirty="0" err="1">
                <a:latin typeface="+mj-lt"/>
              </a:rPr>
              <a:t>ExpenseController.java</a:t>
            </a:r>
            <a:r>
              <a:rPr lang="en-US" sz="1600" dirty="0">
                <a:latin typeface="+mj-lt"/>
              </a:rPr>
              <a:t> – REST endpoints</a:t>
            </a:r>
          </a:p>
          <a:p>
            <a:pPr marL="228600" lvl="1" algn="l">
              <a:lnSpc>
                <a:spcPct val="110000"/>
              </a:lnSpc>
            </a:pPr>
            <a:endParaRPr lang="en-US" sz="1600" dirty="0">
              <a:latin typeface="+mj-lt"/>
            </a:endParaRP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+mj-lt"/>
              </a:rPr>
              <a:t>src</a:t>
            </a:r>
            <a:r>
              <a:rPr lang="en-US" sz="1600" b="1" dirty="0">
                <a:latin typeface="+mj-lt"/>
              </a:rPr>
              <a:t>/main/resources/</a:t>
            </a:r>
          </a:p>
          <a:p>
            <a:pPr lvl="1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templates/</a:t>
            </a:r>
            <a:r>
              <a:rPr lang="en-US" sz="1600" dirty="0" err="1">
                <a:latin typeface="+mj-lt"/>
              </a:rPr>
              <a:t>index.html</a:t>
            </a:r>
            <a:r>
              <a:rPr lang="en-US" sz="1600" dirty="0">
                <a:latin typeface="+mj-lt"/>
              </a:rPr>
              <a:t> etc. – HTML/Bootstrap views</a:t>
            </a:r>
          </a:p>
          <a:p>
            <a:pPr lvl="1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latin typeface="+mj-lt"/>
              </a:rPr>
              <a:t>application.properties</a:t>
            </a:r>
            <a:r>
              <a:rPr lang="en-US" sz="1600" dirty="0">
                <a:latin typeface="+mj-lt"/>
              </a:rPr>
              <a:t> – app config </a:t>
            </a:r>
          </a:p>
          <a:p>
            <a:pPr marL="228600" lvl="1" algn="l">
              <a:lnSpc>
                <a:spcPct val="110000"/>
              </a:lnSpc>
            </a:pPr>
            <a:endParaRPr lang="en-US" sz="1600" dirty="0">
              <a:latin typeface="+mj-lt"/>
            </a:endParaRP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Root:</a:t>
            </a:r>
          </a:p>
          <a:p>
            <a:pPr lvl="1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latin typeface="+mj-lt"/>
              </a:rPr>
              <a:t>expenses.json</a:t>
            </a:r>
            <a:r>
              <a:rPr lang="en-US" sz="1600" dirty="0">
                <a:latin typeface="+mj-lt"/>
              </a:rPr>
              <a:t> – seed/test data</a:t>
            </a:r>
          </a:p>
          <a:p>
            <a:pPr lvl="1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latin typeface="+mj-lt"/>
              </a:rPr>
              <a:t>build.gradle</a:t>
            </a:r>
            <a:r>
              <a:rPr lang="en-US" sz="1600" dirty="0">
                <a:latin typeface="+mj-lt"/>
              </a:rPr>
              <a:t> – dependencies &amp; build</a:t>
            </a:r>
          </a:p>
          <a:p>
            <a:pPr lvl="1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latin typeface="+mj-lt"/>
              </a:rPr>
              <a:t>Dockerfile</a:t>
            </a:r>
            <a:r>
              <a:rPr lang="en-US" sz="1600" dirty="0">
                <a:latin typeface="+mj-lt"/>
              </a:rPr>
              <a:t> – containerization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700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2188758-E18A-4CE5-9D03-F4BF5D887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0131" y="482171"/>
            <a:ext cx="6091791" cy="5149101"/>
            <a:chOff x="5446003" y="583365"/>
            <a:chExt cx="6091790" cy="518192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21513DD-C15F-4381-AEA6-ED9E5E218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46003" y="583365"/>
              <a:ext cx="6091790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ED2DE01-7F43-4858-85FC-27022DA78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64828" y="915807"/>
              <a:ext cx="5461779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Different colored organizers">
            <a:extLst>
              <a:ext uri="{FF2B5EF4-FFF2-40B4-BE49-F238E27FC236}">
                <a16:creationId xmlns:a16="http://schemas.microsoft.com/office/drawing/2014/main" id="{A06A7FEF-A6FD-CF72-E04E-183904315B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33" r="11717" b="1"/>
          <a:stretch>
            <a:fillRect/>
          </a:stretch>
        </p:blipFill>
        <p:spPr>
          <a:xfrm>
            <a:off x="6096000" y="1116345"/>
            <a:ext cx="4819477" cy="3864509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D42F4933-2ECF-4EE5-BCE4-F19E3CA60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6FAC23C-014D-4AC5-AD1B-36F7D0E7E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366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34C6E-F25C-9FA4-1FA4-526496BEE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DC2C5BC-24B5-E86F-3A6F-EDEFB4897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Data &amp; Seed data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CFFD7C-EBB6-186D-9395-331A1F0EC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34643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Seed file:</a:t>
            </a:r>
            <a:r>
              <a:rPr lang="en-US" dirty="0"/>
              <a:t> </a:t>
            </a:r>
            <a:r>
              <a:rPr lang="en-US" dirty="0" err="1"/>
              <a:t>expenses.json</a:t>
            </a:r>
            <a:r>
              <a:rPr lang="en-US" dirty="0"/>
              <a:t> in project root</a:t>
            </a:r>
          </a:p>
          <a:p>
            <a:pPr lvl="1"/>
            <a:r>
              <a:rPr lang="en-US" dirty="0"/>
              <a:t>Contains a realistic mix of categories:</a:t>
            </a:r>
          </a:p>
          <a:p>
            <a:pPr lvl="2"/>
            <a:r>
              <a:rPr lang="en-US" dirty="0"/>
              <a:t>Food, Rent, Entertainment, Travel, Utilities, </a:t>
            </a:r>
            <a:r>
              <a:rPr lang="en-US" dirty="0" err="1"/>
              <a:t>Other,etc</a:t>
            </a:r>
            <a:endParaRPr lang="en-US" dirty="0"/>
          </a:p>
          <a:p>
            <a:pPr lvl="1"/>
            <a:r>
              <a:rPr lang="en-US" dirty="0"/>
              <a:t>Mix of:</a:t>
            </a:r>
          </a:p>
          <a:p>
            <a:pPr lvl="2"/>
            <a:r>
              <a:rPr lang="en-US" dirty="0"/>
              <a:t>Small daily expenses (coffee, bus, snacks)</a:t>
            </a:r>
          </a:p>
          <a:p>
            <a:pPr lvl="2"/>
            <a:r>
              <a:rPr lang="en-US" dirty="0"/>
              <a:t>Large monthly bills (rent, utilities)</a:t>
            </a:r>
          </a:p>
          <a:p>
            <a:r>
              <a:rPr lang="en-US" dirty="0"/>
              <a:t>Repository behavior:</a:t>
            </a:r>
          </a:p>
          <a:p>
            <a:pPr lvl="1"/>
            <a:r>
              <a:rPr lang="en-US" dirty="0"/>
              <a:t>On startup:</a:t>
            </a:r>
          </a:p>
          <a:p>
            <a:pPr lvl="2"/>
            <a:r>
              <a:rPr lang="en-US" dirty="0"/>
              <a:t>If </a:t>
            </a:r>
            <a:r>
              <a:rPr lang="en-US" dirty="0" err="1"/>
              <a:t>expenses.json</a:t>
            </a:r>
            <a:r>
              <a:rPr lang="en-US" dirty="0"/>
              <a:t> exists → load existing data</a:t>
            </a:r>
          </a:p>
          <a:p>
            <a:pPr lvl="2"/>
            <a:r>
              <a:rPr lang="en-US" dirty="0"/>
              <a:t>If not → initialize demo data from fallback and write file</a:t>
            </a:r>
          </a:p>
          <a:p>
            <a:r>
              <a:rPr lang="en-US" dirty="0"/>
              <a:t>This ensures:</a:t>
            </a:r>
          </a:p>
          <a:p>
            <a:pPr lvl="1"/>
            <a:r>
              <a:rPr lang="en-US" dirty="0"/>
              <a:t>App is usable immediately after deployment</a:t>
            </a:r>
          </a:p>
          <a:p>
            <a:pPr lvl="1"/>
            <a:r>
              <a:rPr lang="en-US" dirty="0"/>
              <a:t>Charts, trend, and summaries look meaningful on first load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450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C2AFC-6952-4B91-3087-2BE23A784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436B2B8-C96D-D883-8BE5-DB00EC321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Run, Test &amp; Verify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0B3E19-93D4-8FF9-92B5-11D48B848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34643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Locally (without Docker)</a:t>
            </a:r>
          </a:p>
          <a:p>
            <a:pPr lvl="1"/>
            <a:r>
              <a:rPr lang="en-US" dirty="0"/>
              <a:t>/</a:t>
            </a:r>
            <a:r>
              <a:rPr lang="en-US" dirty="0" err="1"/>
              <a:t>gradlew</a:t>
            </a:r>
            <a:r>
              <a:rPr lang="en-US" dirty="0"/>
              <a:t> </a:t>
            </a:r>
            <a:r>
              <a:rPr lang="en-US" dirty="0" err="1"/>
              <a:t>bootRun</a:t>
            </a:r>
            <a:endParaRPr lang="en-US" dirty="0"/>
          </a:p>
          <a:p>
            <a:pPr lvl="1"/>
            <a:r>
              <a:rPr lang="en-US" dirty="0"/>
              <a:t>Open http://localhost:8080</a:t>
            </a:r>
          </a:p>
          <a:p>
            <a:r>
              <a:rPr lang="en-US" dirty="0"/>
              <a:t>Verify:</a:t>
            </a:r>
          </a:p>
          <a:p>
            <a:pPr lvl="1"/>
            <a:r>
              <a:rPr lang="en-US" dirty="0"/>
              <a:t>Add a few expenses</a:t>
            </a:r>
          </a:p>
          <a:p>
            <a:pPr lvl="1"/>
            <a:r>
              <a:rPr lang="en-US" dirty="0"/>
              <a:t>Check total/highest/lowest numbers update</a:t>
            </a:r>
          </a:p>
          <a:p>
            <a:pPr lvl="1"/>
            <a:r>
              <a:rPr lang="en-US" dirty="0"/>
              <a:t>Look at charts and filters</a:t>
            </a:r>
          </a:p>
          <a:p>
            <a:pPr lvl="1"/>
            <a:r>
              <a:rPr lang="en-US" dirty="0"/>
              <a:t>Click </a:t>
            </a:r>
            <a:r>
              <a:rPr lang="en-US" b="1" dirty="0"/>
              <a:t>Export Excel </a:t>
            </a:r>
            <a:r>
              <a:rPr lang="en-US" dirty="0"/>
              <a:t>(wait for a bit) and open the downloaded file</a:t>
            </a:r>
          </a:p>
          <a:p>
            <a:r>
              <a:rPr lang="en-US" b="1" dirty="0"/>
              <a:t>Using Docker</a:t>
            </a:r>
            <a:endParaRPr lang="en-US" dirty="0"/>
          </a:p>
          <a:p>
            <a:pPr lvl="1"/>
            <a:r>
              <a:rPr lang="en-US" dirty="0"/>
              <a:t>docker build -t expense-tracker .</a:t>
            </a:r>
          </a:p>
          <a:p>
            <a:pPr lvl="1"/>
            <a:r>
              <a:rPr lang="en-US" dirty="0"/>
              <a:t>docker run -p 8080:8080 expense-tracker</a:t>
            </a:r>
          </a:p>
          <a:p>
            <a:pPr lvl="1"/>
            <a:r>
              <a:rPr lang="en-US" dirty="0"/>
              <a:t>Same verification steps as above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845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E3D8A2-F116-ABAC-43FD-E154F3BA5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C2A4B30-77D7-4FFB-8B53-A88BD68CA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F17AAF-398C-1619-03CE-30A155CA7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19"/>
            <a:ext cx="4325112" cy="1049235"/>
          </a:xfrm>
        </p:spPr>
        <p:txBody>
          <a:bodyPr>
            <a:normAutofit/>
          </a:bodyPr>
          <a:lstStyle/>
          <a:p>
            <a:r>
              <a:rPr lang="en-US" sz="2800"/>
              <a:t>Testing &amp; Verification Strategy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73AAE2E-5D6B-4952-A4BB-546C49F8D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432511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1E4D783-AD45-49E7-B6C7-BBACB8290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06DB71-D34D-8C2E-0E50-1E5170266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4325113" cy="4074172"/>
          </a:xfrm>
        </p:spPr>
        <p:txBody>
          <a:bodyPr>
            <a:normAutofit/>
          </a:bodyPr>
          <a:lstStyle/>
          <a:p>
            <a:r>
              <a:rPr lang="en-US" b="1"/>
              <a:t>Testing Approach</a:t>
            </a:r>
          </a:p>
          <a:p>
            <a:pPr lvl="1"/>
            <a:r>
              <a:rPr lang="en-US"/>
              <a:t>Tests written using </a:t>
            </a:r>
            <a:r>
              <a:rPr lang="en-US" b="1"/>
              <a:t>JUnit</a:t>
            </a:r>
            <a:endParaRPr lang="en-US"/>
          </a:p>
          <a:p>
            <a:pPr lvl="1"/>
            <a:r>
              <a:rPr lang="en-US"/>
              <a:t>Focus on </a:t>
            </a:r>
            <a:r>
              <a:rPr lang="en-US" b="1"/>
              <a:t>functional correctness, validation and edge cases</a:t>
            </a:r>
            <a:endParaRPr lang="en-US"/>
          </a:p>
          <a:p>
            <a:pPr lvl="1"/>
            <a:r>
              <a:rPr lang="en-US"/>
              <a:t>Clear separation of test layers:</a:t>
            </a:r>
          </a:p>
          <a:p>
            <a:pPr lvl="2"/>
            <a:r>
              <a:rPr lang="en-US"/>
              <a:t>Controller tests</a:t>
            </a:r>
          </a:p>
          <a:p>
            <a:pPr lvl="2"/>
            <a:r>
              <a:rPr lang="en-US"/>
              <a:t>Service tests</a:t>
            </a:r>
          </a:p>
          <a:p>
            <a:pPr lvl="2"/>
            <a:r>
              <a:rPr lang="en-US"/>
              <a:t>Repository tests</a:t>
            </a:r>
          </a:p>
          <a:p>
            <a:pPr lvl="2"/>
            <a:r>
              <a:rPr lang="en-US"/>
              <a:t>Export functionality tests</a:t>
            </a:r>
          </a:p>
          <a:p>
            <a:endParaRPr lang="en-US"/>
          </a:p>
          <a:p>
            <a:endParaRPr lang="en-US" dirty="0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E32C70-B3AD-1260-BC05-0C6B8EDF7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3015" y="804519"/>
            <a:ext cx="3686555" cy="528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007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88292-0EB1-2213-2BB2-BD463D20E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9FCB3DF-631C-97EF-C424-F5E4CAA59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&amp; Future Improvements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08E997-EE96-503E-9FD7-DEBFE7E2AE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Met all requirements:</a:t>
            </a:r>
          </a:p>
          <a:p>
            <a:pPr lvl="1"/>
            <a:r>
              <a:rPr lang="en-US" dirty="0"/>
              <a:t>Total expense</a:t>
            </a:r>
          </a:p>
          <a:p>
            <a:pPr lvl="1"/>
            <a:r>
              <a:rPr lang="en-US" dirty="0"/>
              <a:t>Per-category totals</a:t>
            </a:r>
          </a:p>
          <a:p>
            <a:pPr lvl="1"/>
            <a:r>
              <a:rPr lang="en-US" dirty="0"/>
              <a:t>Trend over time</a:t>
            </a:r>
          </a:p>
          <a:p>
            <a:pPr lvl="1"/>
            <a:r>
              <a:rPr lang="en-US" dirty="0"/>
              <a:t>Highest &amp; lowest spend categories</a:t>
            </a:r>
          </a:p>
          <a:p>
            <a:pPr lvl="1"/>
            <a:r>
              <a:rPr lang="en-US" dirty="0"/>
              <a:t>Optional UI + Excel export</a:t>
            </a:r>
          </a:p>
          <a:p>
            <a:r>
              <a:rPr lang="en-US" dirty="0"/>
              <a:t>Clean architecture with clear layers and file persistence</a:t>
            </a:r>
          </a:p>
          <a:p>
            <a:r>
              <a:rPr lang="en-US" dirty="0"/>
              <a:t>Visualizations, Export feature, Filters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127378-82CB-92B9-E60C-F0599324A1E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Possible next steps:</a:t>
            </a:r>
          </a:p>
          <a:p>
            <a:pPr lvl="1"/>
            <a:r>
              <a:rPr lang="en-US" dirty="0"/>
              <a:t>Switch to a DB (PostgreSQL)</a:t>
            </a:r>
          </a:p>
          <a:p>
            <a:pPr lvl="1"/>
            <a:r>
              <a:rPr lang="en-US" dirty="0"/>
              <a:t>Authentication &amp; multi-user support</a:t>
            </a:r>
          </a:p>
          <a:p>
            <a:pPr lvl="1"/>
            <a:r>
              <a:rPr lang="en-US" dirty="0"/>
              <a:t>Sharing and splitting expenses between multiple users</a:t>
            </a:r>
          </a:p>
          <a:p>
            <a:pPr lvl="1"/>
            <a:r>
              <a:rPr lang="en-US" dirty="0"/>
              <a:t>Adding bank accounts and credit/debit cards to sync expenses in real-time without manual intervention</a:t>
            </a:r>
          </a:p>
          <a:p>
            <a:pPr lvl="1"/>
            <a:r>
              <a:rPr lang="en-US" dirty="0"/>
              <a:t>More advanced filters (monthly, yearly exports)</a:t>
            </a:r>
          </a:p>
          <a:p>
            <a:pPr lvl="1"/>
            <a:r>
              <a:rPr lang="en-US" dirty="0"/>
              <a:t>More advanced analytics (budgets, alerts, recurring expenses)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596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04A74-0C22-A806-663B-A2C62F0628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14713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128</TotalTime>
  <Words>859</Words>
  <Application>Microsoft Macintosh PowerPoint</Application>
  <PresentationFormat>Widescreen</PresentationFormat>
  <Paragraphs>140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Gill Sans MT</vt:lpstr>
      <vt:lpstr>Wingdings</vt:lpstr>
      <vt:lpstr>Gallery</vt:lpstr>
      <vt:lpstr>Saloni Redij Capgemini Programming Assessment</vt:lpstr>
      <vt:lpstr>Problem Statement &amp; Goals</vt:lpstr>
      <vt:lpstr>High-Level Approach &amp; Architecture</vt:lpstr>
      <vt:lpstr>Key Design Decisions</vt:lpstr>
      <vt:lpstr>Key Screens &amp; Features</vt:lpstr>
      <vt:lpstr>Key Screens &amp; Features</vt:lpstr>
      <vt:lpstr>Analytics &amp; Charts</vt:lpstr>
      <vt:lpstr>Expenses Table, Filters &amp; Actions</vt:lpstr>
      <vt:lpstr>Excel Export (Apache POI)</vt:lpstr>
      <vt:lpstr>Key Files &amp; Folders</vt:lpstr>
      <vt:lpstr>Test Data &amp; Seed data</vt:lpstr>
      <vt:lpstr>How to Run, Test &amp; Verify</vt:lpstr>
      <vt:lpstr>Testing &amp; Verification Strategy</vt:lpstr>
      <vt:lpstr>Summary &amp; Future Improvements</vt:lpstr>
      <vt:lpstr>Thank You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Saloni Redij</dc:creator>
  <cp:lastModifiedBy>Saloni Redij</cp:lastModifiedBy>
  <cp:revision>2</cp:revision>
  <dcterms:created xsi:type="dcterms:W3CDTF">2025-12-10T18:18:42Z</dcterms:created>
  <dcterms:modified xsi:type="dcterms:W3CDTF">2025-12-10T20:27:25Z</dcterms:modified>
</cp:coreProperties>
</file>